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1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276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12A59-7825-4551-AEDE-C9AF017DF6E0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50216-AC38-4E63-B74F-7FA86B690B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498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50216-AC38-4E63-B74F-7FA86B690B8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767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700" b="1">
                <a:solidFill>
                  <a:srgbClr val="FFFFFF"/>
                </a:solidFill>
              </a:defRPr>
            </a:pPr>
            <a:r>
              <a:t>TP BIG DATA — Apache Hadoop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105156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0">
                <a:solidFill>
                  <a:srgbClr val="F4F7FA"/>
                </a:solidFill>
              </a:defRPr>
            </a:pPr>
            <a:r>
              <a:t>NYC Taxi Trip Records — Support de vidéo avec commandes exécutables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257800"/>
            <a:ext cx="978408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FFCC5A"/>
                </a:solidFill>
              </a:defRPr>
            </a:pPr>
            <a:r>
              <a:t>Vidéo : démonstration live par copier-coller des commandes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Méthode de démonstration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À lire 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01E36"/>
                </a:solidFill>
              </a:defRPr>
            </a:pPr>
            <a:r>
              <a:t>Le rapport détaille tout le processus. La vidéo sert à prouver que l’environnement, les données, les résultats Hadoop et les requêtes Hive fonctionnent.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657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4171C"/>
                </a:solidFill>
              </a:defRPr>
            </a:pPr>
            <a:r>
              <a:t>Règles de la vidéo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69848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14171C"/>
                </a:solidFill>
              </a:defRPr>
            </a:pPr>
            <a:r>
              <a:t>1. Ne pas retélécharger les datasets.</a:t>
            </a:r>
            <a:br/>
            <a:r>
              <a:t>2. Ne pas refaire hdfs dfs -put si les fichiers existent déjà.</a:t>
            </a:r>
            <a:br/>
            <a:r>
              <a:t>3. Exécuter les commandes de vérification et les requêtes analytiques.</a:t>
            </a:r>
            <a:br/>
            <a:r>
              <a:t>4. Les commandes des slides sont préparées en une seule ligne quand c’est possible.</a:t>
            </a:r>
            <a:br/>
            <a:r>
              <a:t>5. Les requêtes Hive se collent dans Beeline, pas dans le terminal Linux.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B43A3A"/>
                </a:solidFill>
              </a:defRPr>
            </a:pPr>
            <a:r>
              <a:t>Astuce : si $HDFS_USER est vide, exécuter d’abord la commande de la slide « Variables utiles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Variables utiles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ECF1F5"/>
                </a:solidFill>
                <a:latin typeface="Consolas"/>
              </a:defRPr>
            </a:pPr>
            <a:r>
              <a:rPr dirty="0"/>
              <a:t>export HDFS_USER=$(</a:t>
            </a:r>
            <a:r>
              <a:rPr dirty="0" err="1"/>
              <a:t>whoami</a:t>
            </a:r>
            <a:r>
              <a:rPr dirty="0"/>
              <a:t>); export HADOOP_STREAMING_JAR=$HADOOP_HOME/share/</a:t>
            </a:r>
            <a:r>
              <a:rPr dirty="0" err="1"/>
              <a:t>hadoop</a:t>
            </a:r>
            <a:r>
              <a:rPr dirty="0"/>
              <a:t>/tools/lib/hadoop-streaming-3.4.0.jar; echo $HDFS_USER; echo $HADOOP_STREAMING_JAR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Affiche : leconcret puis le chemin du JAR Hadoop Streaming.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Vérifier que Hadoop est actif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>
                <a:solidFill>
                  <a:srgbClr val="ECF1F5"/>
                </a:solidFill>
                <a:latin typeface="Consolas"/>
              </a:defRPr>
            </a:pPr>
            <a:r>
              <a:rPr dirty="0" err="1"/>
              <a:t>jps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Doit afficher : NameNode, DataNode, SecondaryNameNode, ResourceManager, NodeManager.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Vérifier les données locales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>
                <a:solidFill>
                  <a:srgbClr val="ECF1F5"/>
                </a:solidFill>
                <a:latin typeface="Consolas"/>
              </a:defRPr>
            </a:pPr>
            <a:r>
              <a:rPr dirty="0"/>
              <a:t>ls -</a:t>
            </a:r>
            <a:r>
              <a:rPr dirty="0" err="1"/>
              <a:t>lh</a:t>
            </a:r>
            <a:r>
              <a:rPr dirty="0"/>
              <a:t> ~/</a:t>
            </a:r>
            <a:r>
              <a:rPr dirty="0" err="1"/>
              <a:t>tp_hadoop_taxi</a:t>
            </a:r>
            <a:r>
              <a:rPr dirty="0"/>
              <a:t>/</a:t>
            </a:r>
            <a:r>
              <a:rPr dirty="0" err="1"/>
              <a:t>csv_data</a:t>
            </a:r>
            <a:r>
              <a:rPr dirty="0"/>
              <a:t> &amp;&amp; </a:t>
            </a:r>
            <a:r>
              <a:rPr dirty="0" err="1"/>
              <a:t>wc</a:t>
            </a:r>
            <a:r>
              <a:rPr dirty="0"/>
              <a:t> -l ~/</a:t>
            </a:r>
            <a:r>
              <a:rPr dirty="0" err="1"/>
              <a:t>tp_hadoop_taxi</a:t>
            </a:r>
            <a:r>
              <a:rPr dirty="0"/>
              <a:t>/</a:t>
            </a:r>
            <a:r>
              <a:rPr dirty="0" err="1"/>
              <a:t>csv_data</a:t>
            </a:r>
            <a:r>
              <a:rPr dirty="0"/>
              <a:t>/*.csv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Doit montrer les CSV janvier, février, mars et environ 9 177 627 lignes au total.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Vérifier les données dans HDFS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>
                <a:solidFill>
                  <a:srgbClr val="ECF1F5"/>
                </a:solidFill>
                <a:latin typeface="Consolas"/>
              </a:defRPr>
            </a:pPr>
            <a:r>
              <a:rPr dirty="0" err="1"/>
              <a:t>hdfs</a:t>
            </a:r>
            <a:r>
              <a:rPr dirty="0"/>
              <a:t> </a:t>
            </a:r>
            <a:r>
              <a:rPr dirty="0" err="1"/>
              <a:t>dfs</a:t>
            </a:r>
            <a:r>
              <a:rPr dirty="0"/>
              <a:t> -ls -h /user/$HDFS_USER/taxi/raw/ &amp;&amp; </a:t>
            </a:r>
            <a:r>
              <a:rPr dirty="0" err="1"/>
              <a:t>hdfs</a:t>
            </a:r>
            <a:r>
              <a:rPr dirty="0"/>
              <a:t> </a:t>
            </a:r>
            <a:r>
              <a:rPr dirty="0" err="1"/>
              <a:t>dfs</a:t>
            </a:r>
            <a:r>
              <a:rPr dirty="0"/>
              <a:t> -du -s -h /user/$HDFS_USER/taxi/raw/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Doit montrer les 3 fichiers CSV dans HDFS et environ 918,8 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Exercice 1 — Courses par heure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>
                <a:solidFill>
                  <a:srgbClr val="ECF1F5"/>
                </a:solidFill>
                <a:latin typeface="Consolas"/>
              </a:defRPr>
            </a:pPr>
            <a:r>
              <a:rPr dirty="0" err="1"/>
              <a:t>hdfs</a:t>
            </a:r>
            <a:r>
              <a:rPr dirty="0"/>
              <a:t> </a:t>
            </a:r>
            <a:r>
              <a:rPr dirty="0" err="1"/>
              <a:t>dfs</a:t>
            </a:r>
            <a:r>
              <a:rPr dirty="0"/>
              <a:t> -cat /user/$HDFS_USER/taxi/processed/</a:t>
            </a:r>
            <a:r>
              <a:rPr dirty="0" err="1"/>
              <a:t>trips_per_hour</a:t>
            </a:r>
            <a:r>
              <a:rPr dirty="0"/>
              <a:t>/part-00000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 err="1"/>
              <a:t>Montrer</a:t>
            </a:r>
            <a:r>
              <a:rPr dirty="0"/>
              <a:t> 24 </a:t>
            </a:r>
            <a:r>
              <a:rPr dirty="0" err="1"/>
              <a:t>lignes</a:t>
            </a:r>
            <a:r>
              <a:rPr dirty="0"/>
              <a:t>. Pic </a:t>
            </a:r>
            <a:r>
              <a:rPr dirty="0" err="1"/>
              <a:t>attendu</a:t>
            </a:r>
            <a:r>
              <a:rPr dirty="0"/>
              <a:t> : 17h–18h, avec 18h ≈ 657 807 courses.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Exercice 2 — Revenus par zone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ECF1F5"/>
                </a:solidFill>
                <a:latin typeface="Consolas"/>
              </a:defRPr>
            </a:pPr>
            <a:r>
              <a:rPr dirty="0" err="1"/>
              <a:t>hdfs</a:t>
            </a:r>
            <a:r>
              <a:rPr dirty="0"/>
              <a:t> </a:t>
            </a:r>
            <a:r>
              <a:rPr dirty="0" err="1"/>
              <a:t>dfs</a:t>
            </a:r>
            <a:r>
              <a:rPr dirty="0"/>
              <a:t> -cat /user/$HDFS_USER/taxi/processed/</a:t>
            </a:r>
            <a:r>
              <a:rPr dirty="0" err="1"/>
              <a:t>revenue_per_zone</a:t>
            </a:r>
            <a:r>
              <a:rPr dirty="0"/>
              <a:t>/part-* | sort -t$'\t' -k2 -nr | head 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 err="1"/>
              <a:t>Montrer</a:t>
            </a:r>
            <a:r>
              <a:rPr dirty="0"/>
              <a:t> le top 20. Zone 132 </a:t>
            </a:r>
            <a:r>
              <a:rPr dirty="0" err="1"/>
              <a:t>dominante</a:t>
            </a:r>
            <a:r>
              <a:rPr dirty="0"/>
              <a:t> avec environ 445 560 courses.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Exercice 3 — Créneaux les plus congestionnés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ECF1F5"/>
                </a:solidFill>
                <a:latin typeface="Consolas"/>
              </a:defRPr>
            </a:pPr>
            <a:r>
              <a:rPr dirty="0" err="1"/>
              <a:t>hdfs</a:t>
            </a:r>
            <a:r>
              <a:rPr dirty="0"/>
              <a:t> </a:t>
            </a:r>
            <a:r>
              <a:rPr dirty="0" err="1"/>
              <a:t>dfs</a:t>
            </a:r>
            <a:r>
              <a:rPr dirty="0"/>
              <a:t> -cat /user/$HDFS_USER/taxi/processed/</a:t>
            </a:r>
            <a:r>
              <a:rPr dirty="0" err="1"/>
              <a:t>speed_analysis</a:t>
            </a:r>
            <a:r>
              <a:rPr dirty="0"/>
              <a:t>/part-00000 | sort -t$'\t' -k5 -n | head 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 err="1"/>
              <a:t>Montrer</a:t>
            </a:r>
            <a:r>
              <a:rPr dirty="0"/>
              <a:t> les </a:t>
            </a:r>
            <a:r>
              <a:rPr dirty="0" err="1"/>
              <a:t>vitesses</a:t>
            </a:r>
            <a:r>
              <a:rPr dirty="0"/>
              <a:t> les plus </a:t>
            </a:r>
            <a:r>
              <a:rPr dirty="0" err="1"/>
              <a:t>faibles</a:t>
            </a:r>
            <a:r>
              <a:rPr dirty="0"/>
              <a:t> : environ 9,2 à 9,5 mph.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Exercice 3 — Créneaux les plus fluides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6" y="1486280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ECF1F5"/>
                </a:solidFill>
                <a:latin typeface="Consolas"/>
              </a:defRPr>
            </a:pPr>
            <a:r>
              <a:rPr dirty="0" err="1"/>
              <a:t>hdfs</a:t>
            </a:r>
            <a:r>
              <a:rPr dirty="0"/>
              <a:t> </a:t>
            </a:r>
            <a:r>
              <a:rPr dirty="0" err="1"/>
              <a:t>dfs</a:t>
            </a:r>
            <a:r>
              <a:rPr dirty="0"/>
              <a:t> -cat /user/$HDFS_USER/taxi/processed/</a:t>
            </a:r>
            <a:r>
              <a:rPr dirty="0" err="1"/>
              <a:t>speed_analysis</a:t>
            </a:r>
            <a:r>
              <a:rPr dirty="0"/>
              <a:t>/part-00000 | sort -t$'\t' -k5 -nr | head 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Montrer les vitesses les plus élevées : tôt le matin, autour de 22–23 mph.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Lancer Hive / Beeline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 puis 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>
                <a:solidFill>
                  <a:srgbClr val="ECF1F5"/>
                </a:solidFill>
                <a:latin typeface="Consolas"/>
              </a:defRPr>
            </a:pPr>
            <a:r>
              <a:t>cd ~ &amp;&amp; 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/>
              <a:t>Dans Beeline, </a:t>
            </a:r>
            <a:r>
              <a:rPr dirty="0" err="1"/>
              <a:t>exécuter</a:t>
            </a:r>
            <a:r>
              <a:rPr dirty="0"/>
              <a:t> </a:t>
            </a:r>
            <a:r>
              <a:rPr dirty="0" err="1"/>
              <a:t>ensuite</a:t>
            </a:r>
            <a:r>
              <a:rPr dirty="0"/>
              <a:t> : !connect jdbc:hive2://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utilisateur</a:t>
            </a:r>
            <a:r>
              <a:rPr dirty="0"/>
              <a:t> leconcret et mot de passe vide.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Hive — Choisir la base et vérifier les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>
                <a:solidFill>
                  <a:srgbClr val="ECF1F5"/>
                </a:solidFill>
                <a:latin typeface="Consolas"/>
              </a:defRPr>
            </a:pPr>
            <a:r>
              <a:rPr dirty="0"/>
              <a:t>USE </a:t>
            </a:r>
            <a:r>
              <a:rPr dirty="0" err="1"/>
              <a:t>nyc_taxi_tp</a:t>
            </a:r>
            <a:r>
              <a:rPr dirty="0"/>
              <a:t>; SHOW TABLES; SHOW VIEWS;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Doit afficher : yellow_taxi, yellow_taxi_partitioned et peak_vs_offpeak.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Hive — Volume 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>
                <a:solidFill>
                  <a:srgbClr val="ECF1F5"/>
                </a:solidFill>
                <a:latin typeface="Consolas"/>
              </a:defRPr>
            </a:pPr>
            <a:r>
              <a:rPr dirty="0"/>
              <a:t>SELECT COUNT(*) FROM </a:t>
            </a:r>
            <a:r>
              <a:rPr dirty="0" err="1"/>
              <a:t>yellow_taxi</a:t>
            </a:r>
            <a:r>
              <a:rPr dirty="0"/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 err="1"/>
              <a:t>Résultat</a:t>
            </a:r>
            <a:r>
              <a:rPr dirty="0"/>
              <a:t> </a:t>
            </a:r>
            <a:r>
              <a:rPr dirty="0" err="1"/>
              <a:t>attendu</a:t>
            </a:r>
            <a:r>
              <a:rPr dirty="0"/>
              <a:t> : 9 177 627 </a:t>
            </a:r>
            <a:r>
              <a:rPr dirty="0" err="1"/>
              <a:t>lignes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Hive — Analyse 4.1 : modes de paiement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83464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ECF1F5"/>
                </a:solidFill>
                <a:latin typeface="Consolas"/>
              </a:defRPr>
            </a:pPr>
            <a:r>
              <a:rPr dirty="0"/>
              <a:t>SELECT CASE </a:t>
            </a:r>
            <a:r>
              <a:rPr dirty="0" err="1"/>
              <a:t>payment_type</a:t>
            </a:r>
            <a:r>
              <a:rPr dirty="0"/>
              <a:t> WHEN 1 THEN '</a:t>
            </a:r>
            <a:r>
              <a:rPr dirty="0" err="1"/>
              <a:t>Carte_credit</a:t>
            </a:r>
            <a:r>
              <a:rPr dirty="0"/>
              <a:t>' WHEN 2 THEN 'Cash' WHEN 3 THEN '</a:t>
            </a:r>
            <a:r>
              <a:rPr dirty="0" err="1"/>
              <a:t>Pas_charge</a:t>
            </a:r>
            <a:r>
              <a:rPr dirty="0"/>
              <a:t>' WHEN 4 THEN '</a:t>
            </a:r>
            <a:r>
              <a:rPr dirty="0" err="1"/>
              <a:t>Litige</a:t>
            </a:r>
            <a:r>
              <a:rPr dirty="0"/>
              <a:t>' WHEN 5 THEN 'Inconnu' WHEN 6 THEN 'Annule' ELSE CONCAT('</a:t>
            </a:r>
            <a:r>
              <a:rPr dirty="0" err="1"/>
              <a:t>Autre</a:t>
            </a:r>
            <a:r>
              <a:rPr dirty="0"/>
              <a:t>(',CAST(</a:t>
            </a:r>
            <a:r>
              <a:rPr dirty="0" err="1"/>
              <a:t>payment_type</a:t>
            </a:r>
            <a:r>
              <a:rPr dirty="0"/>
              <a:t> AS STRING),')') END AS </a:t>
            </a:r>
            <a:r>
              <a:rPr dirty="0" err="1"/>
              <a:t>mode_paiement</a:t>
            </a:r>
            <a:r>
              <a:rPr dirty="0"/>
              <a:t>, COUNT(*) AS </a:t>
            </a:r>
            <a:r>
              <a:rPr dirty="0" err="1"/>
              <a:t>nb_courses</a:t>
            </a:r>
            <a:r>
              <a:rPr dirty="0"/>
              <a:t>, ROUND(AVG(</a:t>
            </a:r>
            <a:r>
              <a:rPr dirty="0" err="1"/>
              <a:t>fare_amount</a:t>
            </a:r>
            <a:r>
              <a:rPr dirty="0"/>
              <a:t>),2) AS </a:t>
            </a:r>
            <a:r>
              <a:rPr dirty="0" err="1"/>
              <a:t>tarif_moyen</a:t>
            </a:r>
            <a:r>
              <a:rPr dirty="0"/>
              <a:t>, ROUND(AVG(</a:t>
            </a:r>
            <a:r>
              <a:rPr dirty="0" err="1"/>
              <a:t>tip_amount</a:t>
            </a:r>
            <a:r>
              <a:rPr dirty="0"/>
              <a:t>),2) AS </a:t>
            </a:r>
            <a:r>
              <a:rPr dirty="0" err="1"/>
              <a:t>pourboire_moyen</a:t>
            </a:r>
            <a:r>
              <a:rPr dirty="0"/>
              <a:t>, ROUND(AVG(</a:t>
            </a:r>
            <a:r>
              <a:rPr dirty="0" err="1"/>
              <a:t>tip_amount</a:t>
            </a:r>
            <a:r>
              <a:rPr dirty="0"/>
              <a:t> / NULLIF(fare_amount,0))*100,1) AS </a:t>
            </a:r>
            <a:r>
              <a:rPr dirty="0" err="1"/>
              <a:t>taux_pourboire_pct</a:t>
            </a:r>
            <a:r>
              <a:rPr dirty="0"/>
              <a:t>, ROUND(SUM(</a:t>
            </a:r>
            <a:r>
              <a:rPr dirty="0" err="1"/>
              <a:t>total_amount</a:t>
            </a:r>
            <a:r>
              <a:rPr dirty="0"/>
              <a:t>),0) AS </a:t>
            </a:r>
            <a:r>
              <a:rPr dirty="0" err="1"/>
              <a:t>recette_totale</a:t>
            </a:r>
            <a:r>
              <a:rPr dirty="0"/>
              <a:t> FROM </a:t>
            </a:r>
            <a:r>
              <a:rPr dirty="0" err="1"/>
              <a:t>yellow_taxi</a:t>
            </a:r>
            <a:r>
              <a:rPr dirty="0"/>
              <a:t> WHERE </a:t>
            </a:r>
            <a:r>
              <a:rPr dirty="0" err="1"/>
              <a:t>fare_amount</a:t>
            </a:r>
            <a:r>
              <a:rPr dirty="0"/>
              <a:t>&gt;0 AND </a:t>
            </a:r>
            <a:r>
              <a:rPr dirty="0" err="1"/>
              <a:t>fare_amount</a:t>
            </a:r>
            <a:r>
              <a:rPr dirty="0"/>
              <a:t>&lt;500 AND </a:t>
            </a:r>
            <a:r>
              <a:rPr dirty="0" err="1"/>
              <a:t>tip_amount</a:t>
            </a:r>
            <a:r>
              <a:rPr dirty="0"/>
              <a:t>&gt;=0 GROUP BY </a:t>
            </a:r>
            <a:r>
              <a:rPr dirty="0" err="1"/>
              <a:t>payment_type</a:t>
            </a:r>
            <a:r>
              <a:rPr dirty="0"/>
              <a:t> ORDER BY </a:t>
            </a:r>
            <a:r>
              <a:rPr dirty="0" err="1"/>
              <a:t>nb_courses</a:t>
            </a:r>
            <a:r>
              <a:rPr dirty="0"/>
              <a:t>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1091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 err="1"/>
              <a:t>Carte_credit</a:t>
            </a:r>
            <a:r>
              <a:rPr dirty="0"/>
              <a:t> doit </a:t>
            </a:r>
            <a:r>
              <a:rPr dirty="0" err="1"/>
              <a:t>dominer</a:t>
            </a:r>
            <a:r>
              <a:rPr dirty="0"/>
              <a:t> : environ 7,3 M courses.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12. Hive — Analyse 4.2 : top trajets O/D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83464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>
                <a:solidFill>
                  <a:srgbClr val="ECF1F5"/>
                </a:solidFill>
                <a:latin typeface="Consolas"/>
              </a:defRPr>
            </a:pPr>
            <a:r>
              <a:t>SELECT PULocationID AS zone_depart, DOLocationID AS zone_arrivee, COUNT(*) AS nb_courses, ROUND(AVG(trip_distance),2) AS dist_moy_miles, ROUND(AVG(fare_amount),2) AS tarif_moy, ROUND(AVG(tip_amount),2) AS pourboire_moy FROM yellow_taxi WHERE trip_distance&gt;0 AND fare_amount&gt;0 AND PULocationID!=DOLocationID GROUP BY PULocationID,DOLocationID ORDER BY nb_courses DESC LIMIT 20;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1091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Top attendu : 237 → 236 puis 236 → 237.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13. Hive — Analyse 4.3 : recettes hebdomadaires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83464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750">
                <a:solidFill>
                  <a:srgbClr val="ECF1F5"/>
                </a:solidFill>
                <a:latin typeface="Consolas"/>
              </a:defRPr>
            </a:pPr>
            <a:r>
              <a:t>SELECT WEEKOFYEAR(TO_DATE(tpep_pickup_datetime)) AS semaine, YEAR(TO_DATE(tpep_pickup_datetime)) AS annee, COUNT(*) AS nb_courses, ROUND(SUM(total_amount),0) AS recette_totale, ROUND(AVG(total_amount),2) AS recette_moyenne, ROUND(AVG(trip_distance),2) AS distance_moyenne, ROUND(AVG(passenger_count),2) AS passagers_moyens FROM yellow_taxi WHERE tpep_pickup_datetime IS NOT NULL AND total_amount&gt;0 AND total_amount&lt;500 AND YEAR(TO_DATE(tpep_pickup_datetime))=2023 GROUP BY YEAR(TO_DATE(tpep_pickup_datetime)), WEEKOFYEAR(TO_DATE(tpep_pickup_datetime)) ORDER BY annee,semaine;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1091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Montrer les semaines et recettes. Semaine 11 ≈ 21,9 M$.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14. Hive — Analyse 4.4 : longues distances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83464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750">
                <a:solidFill>
                  <a:srgbClr val="ECF1F5"/>
                </a:solidFill>
                <a:latin typeface="Consolas"/>
              </a:defRPr>
            </a:pPr>
            <a:r>
              <a:t>SELECT DATE(tpep_pickup_datetime) AS date_course, HOUR(tpep_pickup_datetime) AS heure, PULocationID, DOLocationID, ROUND(trip_distance,2) AS distance_miles, ROUND((unix_timestamp(tpep_dropoff_datetime)-unix_timestamp(tpep_pickup_datetime))/60,1) AS duree_minutes, ROUND(fare_amount,2) AS tarif, ROUND(total_amount,2) AS total, payment_type FROM yellow_taxi WHERE trip_distance&gt;20 AND fare_amount&gt;50 AND total_amount&lt;500 ORDER BY trip_distance DESC LIMIT 50;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1091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Montrer les longues distances et les anomalies de distance.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15. Hive — Analyse 4.4 : courses suspectes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>
                <a:solidFill>
                  <a:srgbClr val="ECF1F5"/>
                </a:solidFill>
                <a:latin typeface="Consolas"/>
              </a:defRPr>
            </a:pPr>
            <a:r>
              <a:t>SELECT COUNT(*) AS courses_suspectes FROM yellow_taxi WHERE trip_distance&gt;1 AND (unix_timestamp(tpep_dropoff_datetime)-unix_timestamp(tpep_pickup_datetime))&lt;60;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Résultat attendu : 4 156 courses suspectes.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16. Hive — Analyse 4.5 : table ORC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À expliquer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9728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B43A3A"/>
                </a:solidFill>
              </a:defRPr>
            </a:pPr>
            <a:r>
              <a:t>À ne pas relancer pendant la vidéo, car l’insertion ORC a échoué pendant le job MapReduce.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46504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10972800" cy="82296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67128"/>
            <a:ext cx="10661904" cy="6035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>
                <a:solidFill>
                  <a:srgbClr val="ECF1F5"/>
                </a:solidFill>
                <a:latin typeface="Consolas"/>
              </a:defRPr>
            </a:pPr>
            <a:r>
              <a:rPr dirty="0"/>
              <a:t>SHOW TABLES;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1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/>
              <a:t>La table </a:t>
            </a:r>
            <a:r>
              <a:rPr dirty="0" err="1"/>
              <a:t>yellow_taxi_partitioned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visible.  </a:t>
            </a:r>
            <a:r>
              <a:rPr lang="fr-FR" dirty="0"/>
              <a:t>L</a:t>
            </a:r>
            <a:r>
              <a:rPr dirty="0"/>
              <a:t>a table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créée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e </a:t>
            </a:r>
            <a:r>
              <a:rPr dirty="0" err="1"/>
              <a:t>chargement</a:t>
            </a:r>
            <a:r>
              <a:rPr dirty="0"/>
              <a:t> ORC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interrompu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erreur</a:t>
            </a:r>
            <a:r>
              <a:rPr dirty="0"/>
              <a:t> de </a:t>
            </a:r>
            <a:r>
              <a:rPr dirty="0" err="1"/>
              <a:t>connexion</a:t>
            </a:r>
            <a:r>
              <a:rPr dirty="0"/>
              <a:t> MapReduce.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17. Hive — Exercice 5 : vue peak_vs_offpeak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83464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615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>
                <a:solidFill>
                  <a:srgbClr val="ECF1F5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periode</a:t>
            </a:r>
            <a:r>
              <a:rPr dirty="0"/>
              <a:t>, COUNT(*) AS </a:t>
            </a:r>
            <a:r>
              <a:rPr dirty="0" err="1"/>
              <a:t>nb_courses</a:t>
            </a:r>
            <a:r>
              <a:rPr dirty="0"/>
              <a:t>, ROUND(AVG(</a:t>
            </a:r>
            <a:r>
              <a:rPr dirty="0" err="1"/>
              <a:t>fare_amount</a:t>
            </a:r>
            <a:r>
              <a:rPr dirty="0"/>
              <a:t>),2) AS </a:t>
            </a:r>
            <a:r>
              <a:rPr dirty="0" err="1"/>
              <a:t>recette_moy</a:t>
            </a:r>
            <a:r>
              <a:rPr dirty="0"/>
              <a:t>, ROUND(AVG(</a:t>
            </a:r>
            <a:r>
              <a:rPr dirty="0" err="1"/>
              <a:t>tip_amount</a:t>
            </a:r>
            <a:r>
              <a:rPr dirty="0"/>
              <a:t>),2) AS </a:t>
            </a:r>
            <a:r>
              <a:rPr dirty="0" err="1"/>
              <a:t>pourboire_moy</a:t>
            </a:r>
            <a:r>
              <a:rPr dirty="0"/>
              <a:t>, ROUND(SUM(</a:t>
            </a:r>
            <a:r>
              <a:rPr dirty="0" err="1"/>
              <a:t>total_amount</a:t>
            </a:r>
            <a:r>
              <a:rPr dirty="0"/>
              <a:t>),0) AS </a:t>
            </a:r>
            <a:r>
              <a:rPr dirty="0" err="1"/>
              <a:t>recette_totale</a:t>
            </a:r>
            <a:r>
              <a:rPr dirty="0"/>
              <a:t> FROM </a:t>
            </a:r>
            <a:r>
              <a:rPr dirty="0" err="1"/>
              <a:t>peak_vs_offpeak</a:t>
            </a:r>
            <a:r>
              <a:rPr dirty="0"/>
              <a:t> WHERE </a:t>
            </a:r>
            <a:r>
              <a:rPr dirty="0" err="1"/>
              <a:t>fare_amount</a:t>
            </a:r>
            <a:r>
              <a:rPr dirty="0"/>
              <a:t>&gt;0 AND </a:t>
            </a:r>
            <a:r>
              <a:rPr dirty="0" err="1"/>
              <a:t>fare_amount</a:t>
            </a:r>
            <a:r>
              <a:rPr dirty="0"/>
              <a:t>&lt;500 AND </a:t>
            </a:r>
            <a:r>
              <a:rPr dirty="0" err="1"/>
              <a:t>total_amount</a:t>
            </a:r>
            <a:r>
              <a:rPr dirty="0"/>
              <a:t>&gt;0 AND </a:t>
            </a:r>
            <a:r>
              <a:rPr dirty="0" err="1"/>
              <a:t>total_amount</a:t>
            </a:r>
            <a:r>
              <a:rPr dirty="0"/>
              <a:t>&lt;500 GROUP BY </a:t>
            </a:r>
            <a:r>
              <a:rPr dirty="0" err="1"/>
              <a:t>periode</a:t>
            </a:r>
            <a:r>
              <a:rPr dirty="0"/>
              <a:t> ORDER BY </a:t>
            </a:r>
            <a:r>
              <a:rPr dirty="0" err="1"/>
              <a:t>recette_totale</a:t>
            </a:r>
            <a:r>
              <a:rPr dirty="0"/>
              <a:t>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1091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Résultat attendu : HEURE_CREUSE, POINTE_SOIR, POINTE_MATIN.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18. Quitter Hive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112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400">
                <a:solidFill>
                  <a:srgbClr val="ECF1F5"/>
                </a:solidFill>
                <a:latin typeface="Consolas"/>
              </a:defRPr>
            </a:pPr>
            <a:r>
              <a:rPr dirty="0"/>
              <a:t>!quit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t>Retour au terminal Linux : leconcret@DESKTOP...$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19. Pipeline final — Export et analyse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14983"/>
            <a:ext cx="1920240" cy="256032"/>
          </a:xfrm>
          <a:prstGeom prst="round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BASH — À COPIER-COLLER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0972800" cy="2331720"/>
          </a:xfrm>
          <a:prstGeom prst="roundRect">
            <a:avLst/>
          </a:prstGeom>
          <a:solidFill>
            <a:srgbClr val="13181F"/>
          </a:solidFill>
          <a:ln>
            <a:solidFill>
              <a:srgbClr val="505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35607"/>
            <a:ext cx="10661904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>
                <a:solidFill>
                  <a:srgbClr val="ECF1F5"/>
                </a:solidFill>
                <a:latin typeface="Consolas"/>
              </a:defRPr>
            </a:pPr>
            <a:r>
              <a:rPr dirty="0"/>
              <a:t>head ~/</a:t>
            </a:r>
            <a:r>
              <a:rPr dirty="0" err="1"/>
              <a:t>tp_hadoop_taxi</a:t>
            </a:r>
            <a:r>
              <a:rPr dirty="0"/>
              <a:t>/results/</a:t>
            </a:r>
            <a:r>
              <a:rPr dirty="0" err="1"/>
              <a:t>rapport_final.tsv</a:t>
            </a:r>
            <a:r>
              <a:rPr dirty="0"/>
              <a:t> &amp;&amp; python3 ~/tp_hadoop_taxi/scripts/ex5/analyse_rapport.py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10972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01E36"/>
                </a:solidFill>
              </a:defRPr>
            </a:pPr>
            <a:r>
              <a:t>Résultat attendu / à montrer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079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71C"/>
                </a:solidFill>
              </a:defRPr>
            </a:pPr>
            <a:r>
              <a:rPr dirty="0" err="1"/>
              <a:t>Résultat</a:t>
            </a:r>
            <a:r>
              <a:rPr dirty="0"/>
              <a:t> </a:t>
            </a:r>
            <a:r>
              <a:rPr dirty="0" err="1"/>
              <a:t>attendu</a:t>
            </a:r>
            <a:r>
              <a:rPr dirty="0"/>
              <a:t> : 168 </a:t>
            </a:r>
            <a:r>
              <a:rPr dirty="0" err="1"/>
              <a:t>créneaux</a:t>
            </a:r>
            <a:r>
              <a:rPr dirty="0"/>
              <a:t>, 9 177 544 courses, </a:t>
            </a:r>
            <a:r>
              <a:rPr dirty="0" err="1"/>
              <a:t>recette</a:t>
            </a:r>
            <a:r>
              <a:rPr dirty="0"/>
              <a:t> </a:t>
            </a:r>
            <a:r>
              <a:rPr dirty="0" err="1"/>
              <a:t>totale</a:t>
            </a:r>
            <a:r>
              <a:rPr dirty="0"/>
              <a:t> ≈ 171 948 024,9 $, </a:t>
            </a:r>
            <a:r>
              <a:rPr dirty="0" err="1"/>
              <a:t>créneau</a:t>
            </a:r>
            <a:r>
              <a:rPr dirty="0"/>
              <a:t> JEUDI-18.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de la vidéo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28016"/>
            <a:ext cx="1691640" cy="402336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01E36"/>
                </a:solidFill>
              </a:defRPr>
            </a:pPr>
            <a:r>
              <a:t>Points à montrer au professeur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14171C"/>
                </a:solidFill>
              </a:defRPr>
            </a:pPr>
            <a:r>
              <a:t>✓ Hadoop fonctionne : tous les daemons sont actifs.</a:t>
            </a:r>
            <a:br/>
            <a:r>
              <a:t>✓ Les données sont chargées dans HDFS.</a:t>
            </a:r>
            <a:br/>
            <a:r>
              <a:t>✓ Les résultats MapReduce sont consultables.</a:t>
            </a:r>
            <a:br/>
            <a:r>
              <a:t>✓ Les requêtes Hive s’exécutent sur yellow_taxi.</a:t>
            </a:r>
            <a:br/>
            <a:r>
              <a:t>✓ Le pipeline final produit un rapport TSV et une analyse Python.</a:t>
            </a:r>
            <a:br/>
            <a:r>
              <a:t>✓ Le créneau le plus rentable est JEUDI-18.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238C5C"/>
                </a:solidFill>
              </a:defRPr>
            </a:pPr>
            <a:r>
              <a:t>Fin : uploader la vidéo sur YouTube en mode Non répertoriée puis partager le lien.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1920</Words>
  <Application>Microsoft Office PowerPoint</Application>
  <PresentationFormat>Grand écran</PresentationFormat>
  <Paragraphs>136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Guizo leconcret</cp:lastModifiedBy>
  <cp:revision>10</cp:revision>
  <dcterms:created xsi:type="dcterms:W3CDTF">2013-01-27T09:14:16Z</dcterms:created>
  <dcterms:modified xsi:type="dcterms:W3CDTF">2026-05-27T13:33:50Z</dcterms:modified>
  <cp:category/>
</cp:coreProperties>
</file>